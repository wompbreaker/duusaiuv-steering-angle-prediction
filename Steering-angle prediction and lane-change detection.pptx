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99" r:id="rId2"/>
  </p:sldMasterIdLst>
  <p:notesMasterIdLst>
    <p:notesMasterId r:id="rId14"/>
  </p:notesMasterIdLst>
  <p:sldIdLst>
    <p:sldId id="256" r:id="rId3"/>
    <p:sldId id="262" r:id="rId4"/>
    <p:sldId id="257" r:id="rId5"/>
    <p:sldId id="258" r:id="rId6"/>
    <p:sldId id="259" r:id="rId7"/>
    <p:sldId id="260" r:id="rId8"/>
    <p:sldId id="261" r:id="rId9"/>
    <p:sldId id="264" r:id="rId10"/>
    <p:sldId id="263" r:id="rId11"/>
    <p:sldId id="266" r:id="rId12"/>
    <p:sldId id="265" r:id="rId1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1134A-6292-4C7D-960B-BF5D9A0D5D14}" v="62" dt="2026-03-05T00:32:11.7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8EDF8-5500-4CCD-8B33-A3B79DB6692E}" type="datetimeFigureOut">
              <a:rPr lang="sr-Latn-RS" smtClean="0"/>
              <a:t>4.3.2026.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AA46D-2DF6-46B8-A5B9-FE279290EBAD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4241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AA46D-2DF6-46B8-A5B9-FE279290EBAD}" type="slidenum">
              <a:rPr lang="sr-Latn-RS" smtClean="0"/>
              <a:t>9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95809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6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9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2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9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2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6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71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10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13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68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20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86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42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95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3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180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541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ECE10-9D36-403B-C68E-B8598E0F153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6138" y="6672580"/>
            <a:ext cx="3603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r-Latn-R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1633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9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2E7AD-EFC8-C44D-3C8D-D5E4E5109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32160-074D-11BB-16F0-6F515F2AE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Steering-angle prediction and lane-change detection</a:t>
            </a:r>
            <a:endParaRPr lang="sr-Latn-R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FDBDA-5E7D-272A-4D9E-F83E65FCB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 dirty="0"/>
              <a:t>Aleksa </a:t>
            </a:r>
            <a:r>
              <a:rPr lang="en-US" sz="1900" dirty="0" err="1"/>
              <a:t>Ivanovi</a:t>
            </a:r>
            <a:r>
              <a:rPr lang="sr-Latn-RS" sz="1900" dirty="0"/>
              <a:t>ć</a:t>
            </a:r>
            <a:endParaRPr lang="en-US" sz="1900" dirty="0"/>
          </a:p>
          <a:p>
            <a:pPr algn="r"/>
            <a:r>
              <a:rPr lang="en-US" sz="1900" dirty="0"/>
              <a:t>Igor </a:t>
            </a:r>
            <a:r>
              <a:rPr lang="en-US" sz="1900" dirty="0" err="1"/>
              <a:t>DIni</a:t>
            </a:r>
            <a:r>
              <a:rPr lang="sr-Latn-RS" sz="1900" dirty="0"/>
              <a:t>ć</a:t>
            </a:r>
          </a:p>
        </p:txBody>
      </p:sp>
    </p:spTree>
    <p:extLst>
      <p:ext uri="{BB962C8B-B14F-4D97-AF65-F5344CB8AC3E}">
        <p14:creationId xmlns:p14="http://schemas.microsoft.com/office/powerpoint/2010/main" val="1678419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7F03-2FD4-3F41-343C-A5C395AF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338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Preduslovi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1B15-4C01-9A48-6320-5122CC246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43974"/>
            <a:ext cx="11155680" cy="4701962"/>
          </a:xfrm>
        </p:spPr>
        <p:txBody>
          <a:bodyPr/>
          <a:lstStyle/>
          <a:p>
            <a:r>
              <a:rPr lang="en-US" dirty="0"/>
              <a:t>Python 3.10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noviji</a:t>
            </a:r>
            <a:endParaRPr lang="en-US" dirty="0"/>
          </a:p>
          <a:p>
            <a:r>
              <a:rPr lang="en-US" dirty="0"/>
              <a:t>Dataset folder koji </a:t>
            </a:r>
            <a:r>
              <a:rPr lang="en-US" dirty="0" err="1"/>
              <a:t>sadr</a:t>
            </a:r>
            <a:r>
              <a:rPr lang="sr-Latn-RS" dirty="0"/>
              <a:t>ž</a:t>
            </a:r>
            <a:r>
              <a:rPr lang="en-US" dirty="0" err="1"/>
              <a:t>i</a:t>
            </a:r>
            <a:r>
              <a:rPr lang="en-US" dirty="0"/>
              <a:t> driving_log.csv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kolonama</a:t>
            </a:r>
            <a:r>
              <a:rPr lang="en-US" dirty="0"/>
              <a:t> (center, left, right, steering, throttle, brake, speed)</a:t>
            </a:r>
          </a:p>
          <a:p>
            <a:r>
              <a:rPr lang="en-US" dirty="0" err="1"/>
              <a:t>Poddirektorijum</a:t>
            </a:r>
            <a:r>
              <a:rPr lang="en-US" dirty="0"/>
              <a:t> IMG/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snimljenim</a:t>
            </a:r>
            <a:r>
              <a:rPr lang="en-US" dirty="0"/>
              <a:t> </a:t>
            </a:r>
            <a:r>
              <a:rPr lang="en-US" dirty="0" err="1"/>
              <a:t>frejmovima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Automatsko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sr-Latn-RS" dirty="0"/>
              <a:t>š</a:t>
            </a:r>
            <a:r>
              <a:rPr lang="en-US" dirty="0" err="1"/>
              <a:t>avanje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Windows (setup.ps1), Linux (setup.sh)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</a:t>
            </a:r>
            <a:r>
              <a:rPr lang="sr-Latn-RS" dirty="0"/>
              <a:t>č</a:t>
            </a:r>
            <a:r>
              <a:rPr lang="en-US" dirty="0"/>
              <a:t>no </a:t>
            </a:r>
            <a:r>
              <a:rPr lang="en-US" dirty="0" err="1"/>
              <a:t>pode</a:t>
            </a:r>
            <a:r>
              <a:rPr lang="sr-Latn-RS" dirty="0"/>
              <a:t>š</a:t>
            </a:r>
            <a:r>
              <a:rPr lang="en-US" dirty="0" err="1"/>
              <a:t>avanje</a:t>
            </a:r>
            <a:r>
              <a:rPr lang="en-US" dirty="0"/>
              <a:t>: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Dataset folder </a:t>
            </a:r>
            <a:r>
              <a:rPr lang="en-US" dirty="0" err="1"/>
              <a:t>postaviti</a:t>
            </a:r>
            <a:r>
              <a:rPr lang="en-US" dirty="0"/>
              <a:t> u root </a:t>
            </a:r>
            <a:r>
              <a:rPr lang="en-US" dirty="0" err="1"/>
              <a:t>projekta</a:t>
            </a:r>
            <a:r>
              <a:rPr lang="en-US" dirty="0"/>
              <a:t>. </a:t>
            </a:r>
            <a:r>
              <a:rPr lang="en-US" dirty="0" err="1"/>
              <a:t>Podrazumevani</a:t>
            </a:r>
            <a:r>
              <a:rPr lang="en-US" dirty="0"/>
              <a:t> </a:t>
            </a:r>
            <a:r>
              <a:rPr lang="en-US" dirty="0" err="1"/>
              <a:t>naziv</a:t>
            </a:r>
            <a:r>
              <a:rPr lang="en-US" dirty="0"/>
              <a:t> je </a:t>
            </a:r>
            <a:r>
              <a:rPr lang="en-US" dirty="0" err="1"/>
              <a:t>self_driving_car_dataset_jungle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9FB1E-8091-16E8-6A07-BAF12D6D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26" y="3628419"/>
            <a:ext cx="3096638" cy="135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7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761E3-AE67-55C6-4953-AECD03B9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Arhitektura modela</a:t>
            </a:r>
            <a:endParaRPr lang="sr-Latn-R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BE00FD5-251E-FE85-4A46-D57DC8650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00105"/>
            <a:ext cx="11155680" cy="4245831"/>
          </a:xfrm>
        </p:spPr>
        <p:txBody>
          <a:bodyPr>
            <a:normAutofit/>
          </a:bodyPr>
          <a:lstStyle/>
          <a:p>
            <a:r>
              <a:rPr lang="sr-Latn-RS" dirty="0"/>
              <a:t>Ulaz: vremenska sekvenca od 5 uzastopnih frejmova (</a:t>
            </a:r>
            <a:r>
              <a:rPr lang="sr-Latn-RS" dirty="0" err="1"/>
              <a:t>batch</a:t>
            </a:r>
            <a:r>
              <a:rPr lang="sr-Latn-RS" dirty="0"/>
              <a:t>, 5, 66, 200, 3) — 66×200 piksela, RGB</a:t>
            </a:r>
            <a:endParaRPr lang="en-US" dirty="0"/>
          </a:p>
          <a:p>
            <a:r>
              <a:rPr lang="en-US" dirty="0" err="1"/>
              <a:t>Mre</a:t>
            </a:r>
            <a:r>
              <a:rPr lang="sr-Latn-RS" dirty="0"/>
              <a:t>ž</a:t>
            </a:r>
            <a:r>
              <a:rPr lang="en-US" dirty="0"/>
              <a:t>a </a:t>
            </a:r>
            <a:r>
              <a:rPr lang="en-US" dirty="0" err="1"/>
              <a:t>realizovana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Keras-ovim</a:t>
            </a:r>
            <a:r>
              <a:rPr lang="en-US" dirty="0"/>
              <a:t> Functional API, </a:t>
            </a:r>
            <a:r>
              <a:rPr lang="en-US" dirty="0" err="1"/>
              <a:t>glavne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TimeDistributed</a:t>
            </a:r>
            <a:r>
              <a:rPr lang="en-US" dirty="0"/>
              <a:t> CNN: </a:t>
            </a:r>
          </a:p>
          <a:p>
            <a:pPr lvl="1"/>
            <a:r>
              <a:rPr lang="en-US" dirty="0"/>
              <a:t>Conv2D(24, 5x5, stride 2) -&gt; Conv2D(36, 5x5, stride 2) -&gt; Conv2D(48, 3x3)</a:t>
            </a:r>
          </a:p>
          <a:p>
            <a:pPr lvl="1"/>
            <a:r>
              <a:rPr lang="en-US" dirty="0"/>
              <a:t>Dropout 0.25 (</a:t>
            </a:r>
            <a:r>
              <a:rPr lang="en-US" dirty="0" err="1"/>
              <a:t>uokviren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GlobalAveragePooling2D -&gt; </a:t>
            </a:r>
            <a:r>
              <a:rPr lang="en-US" dirty="0" err="1"/>
              <a:t>vektor</a:t>
            </a:r>
            <a:r>
              <a:rPr lang="en-US" dirty="0"/>
              <a:t> </a:t>
            </a:r>
            <a:r>
              <a:rPr lang="en-US" dirty="0" err="1"/>
              <a:t>dimenzije</a:t>
            </a:r>
            <a:r>
              <a:rPr lang="en-US" dirty="0"/>
              <a:t> 48 po </a:t>
            </a:r>
            <a:r>
              <a:rPr lang="en-US" dirty="0" err="1"/>
              <a:t>frejmu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LSTM(96) – </a:t>
            </a:r>
            <a:r>
              <a:rPr lang="en-US" dirty="0" err="1"/>
              <a:t>vremenski</a:t>
            </a:r>
            <a:r>
              <a:rPr lang="en-US" dirty="0"/>
              <a:t> processor koji </a:t>
            </a:r>
            <a:r>
              <a:rPr lang="en-US" dirty="0" err="1"/>
              <a:t>uzima</a:t>
            </a:r>
            <a:r>
              <a:rPr lang="en-US" dirty="0"/>
              <a:t> </a:t>
            </a:r>
            <a:r>
              <a:rPr lang="en-US" dirty="0" err="1"/>
              <a:t>redom</a:t>
            </a:r>
            <a:r>
              <a:rPr lang="en-US" dirty="0"/>
              <a:t> 5 </a:t>
            </a:r>
            <a:r>
              <a:rPr lang="en-US" dirty="0" err="1"/>
              <a:t>vektora</a:t>
            </a:r>
            <a:r>
              <a:rPr lang="en-US" dirty="0"/>
              <a:t>,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njim</a:t>
            </a:r>
            <a:r>
              <a:rPr lang="en-US" dirty="0"/>
              <a:t> Dropout 0.3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Dense(50, </a:t>
            </a:r>
            <a:r>
              <a:rPr lang="en-US" dirty="0" err="1"/>
              <a:t>ReLU</a:t>
            </a:r>
            <a:r>
              <a:rPr lang="en-US" dirty="0"/>
              <a:t>) -&gt; Dense(1, linear)</a:t>
            </a:r>
            <a:endParaRPr lang="sr-Latn-R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4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08DF-1F44-8B05-3FAC-8E5B500D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en-US" dirty="0" err="1"/>
              <a:t>Pretprocesiranje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A77AB-1401-40DF-8219-A5A301FF5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9235"/>
            <a:ext cx="11155680" cy="442670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sr-Latn-RS" dirty="0"/>
              <a:t>Č</a:t>
            </a:r>
            <a:r>
              <a:rPr lang="en-US" dirty="0" err="1"/>
              <a:t>itanje</a:t>
            </a:r>
            <a:r>
              <a:rPr lang="en-US" dirty="0"/>
              <a:t> CSV-a: </a:t>
            </a:r>
            <a:r>
              <a:rPr lang="en-US" dirty="0" err="1"/>
              <a:t>ulazni</a:t>
            </a:r>
            <a:r>
              <a:rPr lang="en-US" dirty="0"/>
              <a:t> log (driving_log.csv) </a:t>
            </a:r>
            <a:r>
              <a:rPr lang="en-US" dirty="0" err="1"/>
              <a:t>sadr</a:t>
            </a:r>
            <a:r>
              <a:rPr lang="sr-Latn-RS" dirty="0"/>
              <a:t>ž</a:t>
            </a:r>
            <a:r>
              <a:rPr lang="en-US" dirty="0"/>
              <a:t>i: center, left, right, steering, throttle, brake, speed. Za </a:t>
            </a:r>
            <a:r>
              <a:rPr lang="en-US" dirty="0" err="1"/>
              <a:t>svaki</a:t>
            </a:r>
            <a:r>
              <a:rPr lang="en-US" dirty="0"/>
              <a:t> red </a:t>
            </a:r>
            <a:r>
              <a:rPr lang="en-US" dirty="0" err="1"/>
              <a:t>pravimo</a:t>
            </a:r>
            <a:r>
              <a:rPr lang="en-US" dirty="0"/>
              <a:t> po tri </a:t>
            </a:r>
            <a:r>
              <a:rPr lang="en-US" dirty="0" err="1"/>
              <a:t>zapisa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Centralna</a:t>
            </a:r>
            <a:r>
              <a:rPr lang="en-US" dirty="0"/>
              <a:t> </a:t>
            </a:r>
            <a:r>
              <a:rPr lang="en-US" dirty="0" err="1"/>
              <a:t>slika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originalnim</a:t>
            </a:r>
            <a:r>
              <a:rPr lang="en-US" dirty="0"/>
              <a:t> </a:t>
            </a:r>
            <a:r>
              <a:rPr lang="en-US" dirty="0" err="1"/>
              <a:t>uglom</a:t>
            </a:r>
            <a:r>
              <a:rPr lang="en-US" dirty="0"/>
              <a:t> </a:t>
            </a:r>
            <a:r>
              <a:rPr lang="en-US" dirty="0" err="1"/>
              <a:t>upravljanja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Slika s </a:t>
            </a:r>
            <a:r>
              <a:rPr lang="en-US" dirty="0" err="1"/>
              <a:t>leve</a:t>
            </a:r>
            <a:r>
              <a:rPr lang="en-US" dirty="0"/>
              <a:t> </a:t>
            </a:r>
            <a:r>
              <a:rPr lang="en-US" dirty="0" err="1"/>
              <a:t>kamere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uglom</a:t>
            </a:r>
            <a:r>
              <a:rPr lang="en-US" dirty="0"/>
              <a:t> + STEERING_OFFSET (0.2)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Slika s </a:t>
            </a:r>
            <a:r>
              <a:rPr lang="en-US" dirty="0" err="1"/>
              <a:t>desne</a:t>
            </a:r>
            <a:r>
              <a:rPr lang="en-US" dirty="0"/>
              <a:t> </a:t>
            </a:r>
            <a:r>
              <a:rPr lang="en-US" dirty="0" err="1"/>
              <a:t>kamere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uglom</a:t>
            </a:r>
            <a:r>
              <a:rPr lang="en-US" dirty="0"/>
              <a:t> – STEERING_OFFSET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ugla</a:t>
            </a:r>
            <a:r>
              <a:rPr lang="en-US" dirty="0"/>
              <a:t> za </a:t>
            </a:r>
            <a:r>
              <a:rPr lang="en-US" dirty="0" err="1"/>
              <a:t>bo</a:t>
            </a:r>
            <a:r>
              <a:rPr lang="sr-Latn-RS" dirty="0"/>
              <a:t>č</a:t>
            </a:r>
            <a:r>
              <a:rPr lang="en-US" dirty="0"/>
              <a:t>ne </a:t>
            </a:r>
            <a:r>
              <a:rPr lang="en-US" dirty="0" err="1"/>
              <a:t>kamere</a:t>
            </a:r>
            <a:r>
              <a:rPr lang="en-US" dirty="0"/>
              <a:t>: Levi/</a:t>
            </a:r>
            <a:r>
              <a:rPr lang="en-US" dirty="0" err="1"/>
              <a:t>desni</a:t>
            </a:r>
            <a:r>
              <a:rPr lang="en-US" dirty="0"/>
              <a:t> </a:t>
            </a:r>
            <a:r>
              <a:rPr lang="en-US" dirty="0" err="1"/>
              <a:t>snimci</a:t>
            </a:r>
            <a:r>
              <a:rPr lang="en-US" dirty="0"/>
              <a:t> </a:t>
            </a:r>
            <a:r>
              <a:rPr lang="en-US" dirty="0" err="1"/>
              <a:t>simuliraju</a:t>
            </a:r>
            <a:r>
              <a:rPr lang="en-US" dirty="0"/>
              <a:t> </a:t>
            </a:r>
            <a:r>
              <a:rPr lang="en-US" dirty="0" err="1"/>
              <a:t>situaciju</a:t>
            </a:r>
            <a:r>
              <a:rPr lang="en-US" dirty="0"/>
              <a:t> u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voza</a:t>
            </a:r>
            <a:r>
              <a:rPr lang="sr-Latn-RS" dirty="0"/>
              <a:t>č</a:t>
            </a:r>
            <a:r>
              <a:rPr lang="en-US" dirty="0"/>
              <a:t> mora da </a:t>
            </a:r>
            <a:r>
              <a:rPr lang="en-US" dirty="0" err="1"/>
              <a:t>ispravi</a:t>
            </a:r>
            <a:r>
              <a:rPr lang="en-US" dirty="0"/>
              <a:t> polo</a:t>
            </a:r>
            <a:r>
              <a:rPr lang="sr-Latn-RS" dirty="0"/>
              <a:t>ž</a:t>
            </a:r>
            <a:r>
              <a:rPr lang="en-US" dirty="0" err="1"/>
              <a:t>aj</a:t>
            </a:r>
            <a:r>
              <a:rPr lang="en-US" dirty="0"/>
              <a:t> – </a:t>
            </a:r>
            <a:r>
              <a:rPr lang="en-US" dirty="0" err="1"/>
              <a:t>mre</a:t>
            </a:r>
            <a:r>
              <a:rPr lang="sr-Latn-RS" dirty="0"/>
              <a:t>ž</a:t>
            </a:r>
            <a:r>
              <a:rPr lang="en-US" dirty="0"/>
              <a:t>a u</a:t>
            </a:r>
            <a:r>
              <a:rPr lang="sr-Latn-RS" dirty="0"/>
              <a:t>č</a:t>
            </a:r>
            <a:r>
              <a:rPr lang="en-US" dirty="0" err="1"/>
              <a:t>i</a:t>
            </a:r>
            <a:r>
              <a:rPr lang="en-US" dirty="0"/>
              <a:t> “</a:t>
            </a:r>
            <a:r>
              <a:rPr lang="en-US" dirty="0" err="1"/>
              <a:t>povratak</a:t>
            </a:r>
            <a:r>
              <a:rPr lang="en-US" dirty="0"/>
              <a:t> u </a:t>
            </a:r>
            <a:r>
              <a:rPr lang="en-US" dirty="0" err="1"/>
              <a:t>traku</a:t>
            </a:r>
            <a:r>
              <a:rPr lang="en-US" dirty="0"/>
              <a:t>”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dodatnog</a:t>
            </a:r>
            <a:r>
              <a:rPr lang="en-US" dirty="0"/>
              <a:t>/</a:t>
            </a:r>
            <a:r>
              <a:rPr lang="en-US" dirty="0" err="1"/>
              <a:t>oduzetog</a:t>
            </a:r>
            <a:r>
              <a:rPr lang="en-US" dirty="0"/>
              <a:t> </a:t>
            </a:r>
            <a:r>
              <a:rPr lang="en-US" dirty="0" err="1"/>
              <a:t>ugla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Obrada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: </a:t>
            </a:r>
            <a:r>
              <a:rPr lang="en-US" dirty="0" err="1"/>
              <a:t>Iseku</a:t>
            </a:r>
            <a:r>
              <a:rPr lang="en-US" dirty="0"/>
              <a:t> se </a:t>
            </a:r>
            <a:r>
              <a:rPr lang="en-US" dirty="0" err="1"/>
              <a:t>gornjih</a:t>
            </a:r>
            <a:r>
              <a:rPr lang="en-US" dirty="0"/>
              <a:t> 60 </a:t>
            </a:r>
            <a:r>
              <a:rPr lang="en-US" dirty="0" err="1"/>
              <a:t>piksela</a:t>
            </a:r>
            <a:r>
              <a:rPr lang="en-US" dirty="0"/>
              <a:t> (</a:t>
            </a:r>
            <a:r>
              <a:rPr lang="en-US" dirty="0" err="1"/>
              <a:t>nebo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donjih</a:t>
            </a:r>
            <a:r>
              <a:rPr lang="en-US" dirty="0"/>
              <a:t> 25 </a:t>
            </a:r>
            <a:r>
              <a:rPr lang="en-US" dirty="0" err="1"/>
              <a:t>piksela</a:t>
            </a:r>
            <a:r>
              <a:rPr lang="en-US" dirty="0"/>
              <a:t> (</a:t>
            </a:r>
            <a:r>
              <a:rPr lang="en-US" dirty="0" err="1"/>
              <a:t>hauba</a:t>
            </a:r>
            <a:r>
              <a:rPr lang="en-US" dirty="0"/>
              <a:t>). Slika se </a:t>
            </a:r>
            <a:r>
              <a:rPr lang="en-US" dirty="0" err="1"/>
              <a:t>skalira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66 x 200 </a:t>
            </a:r>
            <a:r>
              <a:rPr lang="en-US" dirty="0" err="1"/>
              <a:t>piksela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Pikseli</a:t>
            </a:r>
            <a:r>
              <a:rPr lang="en-US" dirty="0"/>
              <a:t> se </a:t>
            </a:r>
            <a:r>
              <a:rPr lang="en-US" dirty="0" err="1"/>
              <a:t>pretvaraju</a:t>
            </a:r>
            <a:r>
              <a:rPr lang="en-US" dirty="0"/>
              <a:t> u float32 </a:t>
            </a:r>
            <a:r>
              <a:rPr lang="en-US" dirty="0" err="1"/>
              <a:t>i</a:t>
            </a:r>
            <a:r>
              <a:rPr lang="en-US" dirty="0"/>
              <a:t> dele </a:t>
            </a:r>
            <a:r>
              <a:rPr lang="en-US" dirty="0" err="1"/>
              <a:t>sa</a:t>
            </a:r>
            <a:r>
              <a:rPr lang="en-US" dirty="0"/>
              <a:t> 255 da bi se </a:t>
            </a:r>
            <a:r>
              <a:rPr lang="en-US" dirty="0" err="1"/>
              <a:t>dobio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u </a:t>
            </a:r>
            <a:r>
              <a:rPr lang="en-US" dirty="0" err="1"/>
              <a:t>opsegu</a:t>
            </a:r>
            <a:r>
              <a:rPr lang="en-US" dirty="0"/>
              <a:t> [0,1]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2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A8D5-1CF0-CEC9-AC26-94024786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en-US" dirty="0" err="1"/>
              <a:t>Treniranje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FDD1-2895-7822-E4D1-3D7409EFC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Podela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: 80% za </a:t>
            </a:r>
            <a:r>
              <a:rPr lang="en-US" dirty="0" err="1"/>
              <a:t>trening</a:t>
            </a:r>
            <a:r>
              <a:rPr lang="en-US" dirty="0"/>
              <a:t>, 20% za </a:t>
            </a:r>
            <a:r>
              <a:rPr lang="en-US" dirty="0" err="1"/>
              <a:t>validaciju</a:t>
            </a:r>
            <a:endParaRPr lang="en-US" dirty="0"/>
          </a:p>
          <a:p>
            <a:r>
              <a:rPr lang="en-US" dirty="0" err="1"/>
              <a:t>Klju</a:t>
            </a:r>
            <a:r>
              <a:rPr lang="sr-Latn-RS" dirty="0"/>
              <a:t>č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hiperparametri</a:t>
            </a:r>
            <a:r>
              <a:rPr lang="en-US" dirty="0"/>
              <a:t>:</a:t>
            </a:r>
            <a:r>
              <a:rPr lang="sr-Latn-RS" dirty="0"/>
              <a:t> </a:t>
            </a:r>
          </a:p>
          <a:p>
            <a:pPr lvl="1"/>
            <a:r>
              <a:rPr lang="en-US" dirty="0"/>
              <a:t>BATCH_SIZE = 32, EPOCHS = 50</a:t>
            </a:r>
          </a:p>
          <a:p>
            <a:pPr lvl="1"/>
            <a:r>
              <a:rPr lang="en-US" dirty="0" err="1"/>
              <a:t>Optimizator</a:t>
            </a:r>
            <a:r>
              <a:rPr lang="en-US" dirty="0"/>
              <a:t>: Adam </a:t>
            </a:r>
            <a:r>
              <a:rPr lang="en-US" dirty="0" err="1"/>
              <a:t>sa</a:t>
            </a:r>
            <a:r>
              <a:rPr lang="en-US" dirty="0"/>
              <a:t> po</a:t>
            </a:r>
            <a:r>
              <a:rPr lang="sr-Latn-RS" dirty="0"/>
              <a:t>č</a:t>
            </a:r>
            <a:r>
              <a:rPr lang="en-US" dirty="0" err="1"/>
              <a:t>etnim</a:t>
            </a:r>
            <a:r>
              <a:rPr lang="en-US" dirty="0"/>
              <a:t> learning rate-om 1e-3</a:t>
            </a:r>
            <a:endParaRPr lang="sr-Latn-RS" dirty="0"/>
          </a:p>
          <a:p>
            <a:pPr lvl="1"/>
            <a:r>
              <a:rPr lang="sr-Latn-RS" dirty="0" err="1"/>
              <a:t>Loss</a:t>
            </a:r>
            <a:r>
              <a:rPr lang="sr-Latn-RS" dirty="0"/>
              <a:t> </a:t>
            </a:r>
            <a:r>
              <a:rPr lang="sr-Latn-RS" dirty="0" err="1"/>
              <a:t>function</a:t>
            </a:r>
            <a:r>
              <a:rPr lang="en-US" dirty="0"/>
              <a:t>: Mean Squared Error (MSE) – </a:t>
            </a:r>
            <a:r>
              <a:rPr lang="en-US" dirty="0" err="1"/>
              <a:t>optimizuje</a:t>
            </a:r>
            <a:r>
              <a:rPr lang="en-US" dirty="0"/>
              <a:t> se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treniranja</a:t>
            </a:r>
            <a:endParaRPr lang="en-US" dirty="0"/>
          </a:p>
          <a:p>
            <a:pPr lvl="1"/>
            <a:r>
              <a:rPr lang="en-US" dirty="0" err="1"/>
              <a:t>Metrika</a:t>
            </a:r>
            <a:r>
              <a:rPr lang="en-US" dirty="0"/>
              <a:t> za </a:t>
            </a:r>
            <a:r>
              <a:rPr lang="en-US" dirty="0" err="1"/>
              <a:t>pra</a:t>
            </a:r>
            <a:r>
              <a:rPr lang="sr-Latn-RS" dirty="0"/>
              <a:t>ć</a:t>
            </a:r>
            <a:r>
              <a:rPr lang="en-US" dirty="0" err="1"/>
              <a:t>enje</a:t>
            </a:r>
            <a:r>
              <a:rPr lang="en-US" dirty="0"/>
              <a:t>: Mean Absolute Error (MAE)</a:t>
            </a:r>
          </a:p>
          <a:p>
            <a:r>
              <a:rPr lang="en-US" dirty="0"/>
              <a:t>Callback-</a:t>
            </a:r>
            <a:r>
              <a:rPr lang="en-US" dirty="0" err="1"/>
              <a:t>ovi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EarlyStopping</a:t>
            </a:r>
            <a:r>
              <a:rPr lang="en-US" dirty="0"/>
              <a:t> – </a:t>
            </a:r>
            <a:r>
              <a:rPr lang="en-US" dirty="0" err="1"/>
              <a:t>zaustavlja</a:t>
            </a:r>
            <a:r>
              <a:rPr lang="en-US" dirty="0"/>
              <a:t> </a:t>
            </a:r>
            <a:r>
              <a:rPr lang="en-US" dirty="0" err="1"/>
              <a:t>trening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validacioni</a:t>
            </a:r>
            <a:r>
              <a:rPr lang="en-US" dirty="0"/>
              <a:t> loss ne pada 7 </a:t>
            </a:r>
            <a:r>
              <a:rPr lang="en-US" dirty="0" err="1"/>
              <a:t>epoha</a:t>
            </a:r>
            <a:r>
              <a:rPr lang="en-US" dirty="0"/>
              <a:t> za </a:t>
            </a:r>
            <a:r>
              <a:rPr lang="en-US" dirty="0" err="1"/>
              <a:t>redom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vra</a:t>
            </a:r>
            <a:r>
              <a:rPr lang="sr-Latn-RS" dirty="0"/>
              <a:t>ć</a:t>
            </a:r>
            <a:r>
              <a:rPr lang="en-US" dirty="0"/>
              <a:t>a </a:t>
            </a:r>
            <a:r>
              <a:rPr lang="en-US" dirty="0" err="1"/>
              <a:t>najbolje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sr-Latn-RS" dirty="0"/>
              <a:t>č</a:t>
            </a:r>
            <a:r>
              <a:rPr lang="en-US" dirty="0" err="1"/>
              <a:t>uvane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sr-Latn-RS" dirty="0"/>
              <a:t>ž</a:t>
            </a:r>
            <a:r>
              <a:rPr lang="en-US" dirty="0" err="1"/>
              <a:t>ine</a:t>
            </a:r>
            <a:endParaRPr lang="en-US" dirty="0"/>
          </a:p>
          <a:p>
            <a:pPr lvl="1"/>
            <a:r>
              <a:rPr lang="en-US" dirty="0" err="1"/>
              <a:t>ReduceLROnPlateau</a:t>
            </a:r>
            <a:r>
              <a:rPr lang="en-US" dirty="0"/>
              <a:t> –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validacioni</a:t>
            </a:r>
            <a:r>
              <a:rPr lang="en-US" dirty="0"/>
              <a:t> loss </a:t>
            </a:r>
            <a:r>
              <a:rPr lang="en-US" dirty="0" err="1"/>
              <a:t>zaglavi</a:t>
            </a:r>
            <a:r>
              <a:rPr lang="en-US" dirty="0"/>
              <a:t> 3 </a:t>
            </a:r>
            <a:r>
              <a:rPr lang="en-US" dirty="0" err="1"/>
              <a:t>epohe</a:t>
            </a:r>
            <a:r>
              <a:rPr lang="en-US" dirty="0"/>
              <a:t> </a:t>
            </a:r>
            <a:r>
              <a:rPr lang="en-US" dirty="0" err="1"/>
              <a:t>prepolovi</a:t>
            </a:r>
            <a:r>
              <a:rPr lang="en-US" dirty="0"/>
              <a:t> learning rate</a:t>
            </a:r>
          </a:p>
          <a:p>
            <a:pPr lvl="1"/>
            <a:r>
              <a:rPr lang="en-US" dirty="0" err="1"/>
              <a:t>ModelCheckpoint</a:t>
            </a:r>
            <a:r>
              <a:rPr lang="en-US" dirty="0"/>
              <a:t> – </a:t>
            </a:r>
            <a:r>
              <a:rPr lang="sr-Latn-RS" dirty="0"/>
              <a:t>č</a:t>
            </a:r>
            <a:r>
              <a:rPr lang="en-US" dirty="0"/>
              <a:t>uva </a:t>
            </a:r>
            <a:r>
              <a:rPr lang="en-US" dirty="0" err="1"/>
              <a:t>najbolju</a:t>
            </a:r>
            <a:r>
              <a:rPr lang="en-US" dirty="0"/>
              <a:t> </a:t>
            </a:r>
            <a:r>
              <a:rPr lang="en-US" dirty="0" err="1"/>
              <a:t>mre</a:t>
            </a:r>
            <a:r>
              <a:rPr lang="sr-Latn-RS" dirty="0"/>
              <a:t>ž</a:t>
            </a:r>
            <a:r>
              <a:rPr lang="en-US" dirty="0"/>
              <a:t>u u </a:t>
            </a:r>
            <a:r>
              <a:rPr lang="en-US" dirty="0" err="1"/>
              <a:t>best_model.keras</a:t>
            </a:r>
            <a:endParaRPr lang="en-US" dirty="0"/>
          </a:p>
          <a:p>
            <a:r>
              <a:rPr lang="en-US" dirty="0" err="1"/>
              <a:t>Krajnji</a:t>
            </a:r>
            <a:r>
              <a:rPr lang="en-US" dirty="0"/>
              <a:t> </a:t>
            </a:r>
            <a:r>
              <a:rPr lang="en-US" dirty="0" err="1"/>
              <a:t>rezultati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Krajnji</a:t>
            </a:r>
            <a:r>
              <a:rPr lang="en-US" dirty="0"/>
              <a:t> model se </a:t>
            </a:r>
            <a:r>
              <a:rPr lang="sr-Latn-RS" dirty="0"/>
              <a:t>č</a:t>
            </a:r>
            <a:r>
              <a:rPr lang="en-US" dirty="0"/>
              <a:t>uva u </a:t>
            </a:r>
            <a:r>
              <a:rPr lang="en-US" dirty="0" err="1"/>
              <a:t>final_model.keras</a:t>
            </a:r>
            <a:endParaRPr lang="en-US" dirty="0"/>
          </a:p>
          <a:p>
            <a:pPr lvl="1"/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se </a:t>
            </a:r>
            <a:r>
              <a:rPr lang="sr-Latn-RS" dirty="0"/>
              <a:t>č</a:t>
            </a:r>
            <a:r>
              <a:rPr lang="en-US" dirty="0" err="1"/>
              <a:t>uvaju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grafikoni</a:t>
            </a:r>
            <a:r>
              <a:rPr lang="en-US" dirty="0"/>
              <a:t> </a:t>
            </a:r>
            <a:r>
              <a:rPr lang="en-US" dirty="0" err="1"/>
              <a:t>gubitka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MAE u training_curves.png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7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224F-5BB0-B113-2BAA-2976CA39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0937"/>
          </a:xfrm>
        </p:spPr>
        <p:txBody>
          <a:bodyPr/>
          <a:lstStyle/>
          <a:p>
            <a:r>
              <a:rPr lang="en-US" dirty="0" err="1"/>
              <a:t>Inferencija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vizualizacija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B15B0-7617-2FC1-DF21-AFCC237C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09345"/>
            <a:ext cx="11155680" cy="4536591"/>
          </a:xfrm>
        </p:spPr>
        <p:txBody>
          <a:bodyPr/>
          <a:lstStyle/>
          <a:p>
            <a:r>
              <a:rPr lang="en-US" dirty="0"/>
              <a:t>predict.py u</a:t>
            </a:r>
            <a:r>
              <a:rPr lang="sr-Latn-RS" dirty="0"/>
              <a:t>č</a:t>
            </a:r>
            <a:r>
              <a:rPr lang="en-US" dirty="0" err="1"/>
              <a:t>itava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sr-Latn-RS" dirty="0"/>
              <a:t>č</a:t>
            </a:r>
            <a:r>
              <a:rPr lang="en-US" dirty="0" err="1"/>
              <a:t>uvani</a:t>
            </a:r>
            <a:r>
              <a:rPr lang="en-US" dirty="0"/>
              <a:t> model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prolazi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snimljene</a:t>
            </a:r>
            <a:r>
              <a:rPr lang="en-US" dirty="0"/>
              <a:t> </a:t>
            </a:r>
            <a:r>
              <a:rPr lang="en-US" dirty="0" err="1"/>
              <a:t>frejmove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po </a:t>
            </a:r>
            <a:r>
              <a:rPr lang="en-US" dirty="0" err="1"/>
              <a:t>jedan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sr-Latn-RS" dirty="0"/>
              <a:t>Č</a:t>
            </a:r>
            <a:r>
              <a:rPr lang="en-US" dirty="0"/>
              <a:t>uva se </a:t>
            </a:r>
            <a:r>
              <a:rPr lang="en-US" dirty="0" err="1"/>
              <a:t>skup</a:t>
            </a:r>
            <a:r>
              <a:rPr lang="en-US" dirty="0"/>
              <a:t> od </a:t>
            </a:r>
            <a:r>
              <a:rPr lang="en-US" dirty="0" err="1"/>
              <a:t>poslednjih</a:t>
            </a:r>
            <a:r>
              <a:rPr lang="en-US" dirty="0"/>
              <a:t> 5 </a:t>
            </a:r>
            <a:r>
              <a:rPr lang="en-US" dirty="0" err="1"/>
              <a:t>obra</a:t>
            </a:r>
            <a:r>
              <a:rPr lang="sr-Latn-RS" dirty="0"/>
              <a:t>đ</a:t>
            </a:r>
            <a:r>
              <a:rPr lang="en-US" dirty="0" err="1"/>
              <a:t>enih</a:t>
            </a:r>
            <a:r>
              <a:rPr lang="en-US" dirty="0"/>
              <a:t> </a:t>
            </a:r>
            <a:r>
              <a:rPr lang="en-US" dirty="0" err="1"/>
              <a:t>slika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Kada je </a:t>
            </a:r>
            <a:r>
              <a:rPr lang="en-US" dirty="0" err="1"/>
              <a:t>bafer</a:t>
            </a:r>
            <a:r>
              <a:rPr lang="en-US" dirty="0"/>
              <a:t> </a:t>
            </a:r>
            <a:r>
              <a:rPr lang="en-US" dirty="0" err="1"/>
              <a:t>popunjen</a:t>
            </a:r>
            <a:r>
              <a:rPr lang="en-US" dirty="0"/>
              <a:t>, za </a:t>
            </a:r>
            <a:r>
              <a:rPr lang="en-US" dirty="0" err="1"/>
              <a:t>svaki</a:t>
            </a:r>
            <a:r>
              <a:rPr lang="en-US" dirty="0"/>
              <a:t> novi </a:t>
            </a:r>
            <a:r>
              <a:rPr lang="en-US" dirty="0" err="1"/>
              <a:t>frejm</a:t>
            </a:r>
            <a:r>
              <a:rPr lang="en-US" dirty="0"/>
              <a:t> model </a:t>
            </a:r>
            <a:r>
              <a:rPr lang="en-US" dirty="0" err="1"/>
              <a:t>predvi</a:t>
            </a:r>
            <a:r>
              <a:rPr lang="sr-Latn-RS" dirty="0"/>
              <a:t>đ</a:t>
            </a:r>
            <a:r>
              <a:rPr lang="en-US" dirty="0"/>
              <a:t>a </a:t>
            </a:r>
            <a:r>
              <a:rPr lang="en-US" dirty="0" err="1"/>
              <a:t>ugao</a:t>
            </a:r>
            <a:r>
              <a:rPr lang="en-US" dirty="0"/>
              <a:t> </a:t>
            </a:r>
            <a:r>
              <a:rPr lang="en-US" dirty="0" err="1"/>
              <a:t>upravljanja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frejmu</a:t>
            </a:r>
            <a:r>
              <a:rPr lang="en-US" dirty="0"/>
              <a:t> se </a:t>
            </a:r>
            <a:r>
              <a:rPr lang="en-US" dirty="0" err="1"/>
              <a:t>crtaju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Volan – </a:t>
            </a:r>
            <a:r>
              <a:rPr lang="en-US" dirty="0" err="1"/>
              <a:t>okre</a:t>
            </a:r>
            <a:r>
              <a:rPr lang="sr-Latn-RS" dirty="0"/>
              <a:t>ć</a:t>
            </a:r>
            <a:r>
              <a:rPr lang="en-US" dirty="0"/>
              <a:t>e se za </a:t>
            </a:r>
            <a:r>
              <a:rPr lang="en-US" dirty="0" err="1"/>
              <a:t>predvi</a:t>
            </a:r>
            <a:r>
              <a:rPr lang="sr-Latn-RS" dirty="0"/>
              <a:t>đ</a:t>
            </a:r>
            <a:r>
              <a:rPr lang="en-US" dirty="0" err="1"/>
              <a:t>eni</a:t>
            </a:r>
            <a:r>
              <a:rPr lang="en-US" dirty="0"/>
              <a:t> </a:t>
            </a:r>
            <a:r>
              <a:rPr lang="en-US" dirty="0" err="1"/>
              <a:t>ugao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menja</a:t>
            </a:r>
            <a:r>
              <a:rPr lang="en-US" dirty="0"/>
              <a:t> </a:t>
            </a:r>
            <a:r>
              <a:rPr lang="en-US" dirty="0" err="1"/>
              <a:t>boju</a:t>
            </a:r>
            <a:r>
              <a:rPr lang="en-US" dirty="0"/>
              <a:t> (</a:t>
            </a:r>
            <a:r>
              <a:rPr lang="en-US" dirty="0" err="1"/>
              <a:t>zelena</a:t>
            </a:r>
            <a:r>
              <a:rPr lang="en-US" dirty="0"/>
              <a:t>/</a:t>
            </a:r>
            <a:r>
              <a:rPr lang="sr-Latn-RS" dirty="0"/>
              <a:t>ž</a:t>
            </a:r>
            <a:r>
              <a:rPr lang="en-US" dirty="0"/>
              <a:t>uta/</a:t>
            </a:r>
            <a:r>
              <a:rPr lang="en-US" dirty="0" err="1"/>
              <a:t>crvena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velicini</a:t>
            </a:r>
            <a:r>
              <a:rPr lang="en-US" dirty="0"/>
              <a:t> </a:t>
            </a:r>
            <a:r>
              <a:rPr lang="en-US" dirty="0" err="1"/>
              <a:t>ugla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Tekst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predvi</a:t>
            </a:r>
            <a:r>
              <a:rPr lang="sr-Latn-RS" dirty="0"/>
              <a:t>đ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uglom</a:t>
            </a:r>
            <a:r>
              <a:rPr lang="en-US" dirty="0"/>
              <a:t> u </a:t>
            </a:r>
            <a:r>
              <a:rPr lang="en-US" dirty="0" err="1"/>
              <a:t>stepenima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Tekst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ground-truth </a:t>
            </a:r>
            <a:r>
              <a:rPr lang="en-US" dirty="0" err="1"/>
              <a:t>uglom</a:t>
            </a:r>
            <a:r>
              <a:rPr lang="en-US" dirty="0"/>
              <a:t> za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uporednu</a:t>
            </a:r>
            <a:r>
              <a:rPr lang="en-US" dirty="0"/>
              <a:t> </a:t>
            </a:r>
            <a:r>
              <a:rPr lang="en-US" dirty="0" err="1"/>
              <a:t>proveru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Crvena</a:t>
            </a:r>
            <a:r>
              <a:rPr lang="en-US" dirty="0"/>
              <a:t> </a:t>
            </a:r>
            <a:r>
              <a:rPr lang="en-US" dirty="0" err="1"/>
              <a:t>ivica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upozorenje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desila</a:t>
            </a:r>
            <a:r>
              <a:rPr lang="en-US" dirty="0"/>
              <a:t>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trake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Frejmovi</a:t>
            </a:r>
            <a:r>
              <a:rPr lang="en-US" dirty="0"/>
              <a:t> se </a:t>
            </a:r>
            <a:r>
              <a:rPr lang="sr-Latn-RS" dirty="0"/>
              <a:t>č</a:t>
            </a:r>
            <a:r>
              <a:rPr lang="en-US" dirty="0" err="1"/>
              <a:t>uvaju</a:t>
            </a:r>
            <a:r>
              <a:rPr lang="en-US" dirty="0"/>
              <a:t> u outputs/frames. Ako se CLI </a:t>
            </a:r>
            <a:r>
              <a:rPr lang="en-US" dirty="0" err="1"/>
              <a:t>pozove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–video, </a:t>
            </a:r>
            <a:r>
              <a:rPr lang="en-US" dirty="0" err="1"/>
              <a:t>frejmovi</a:t>
            </a:r>
            <a:r>
              <a:rPr lang="en-US" dirty="0"/>
              <a:t> se </a:t>
            </a:r>
            <a:r>
              <a:rPr lang="sr-Latn-RS" dirty="0"/>
              <a:t>č</a:t>
            </a:r>
            <a:r>
              <a:rPr lang="en-US" dirty="0" err="1"/>
              <a:t>uvaju</a:t>
            </a:r>
            <a:r>
              <a:rPr lang="en-US" dirty="0"/>
              <a:t> u prediction.mp4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700142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8B59-68F5-00A7-9D78-DF6C8042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0120"/>
          </a:xfrm>
        </p:spPr>
        <p:txBody>
          <a:bodyPr/>
          <a:lstStyle/>
          <a:p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trake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AA6B-91D5-5954-0528-B3B3B000D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1251"/>
            <a:ext cx="11155680" cy="4604685"/>
          </a:xfrm>
        </p:spPr>
        <p:txBody>
          <a:bodyPr/>
          <a:lstStyle/>
          <a:p>
            <a:r>
              <a:rPr lang="en-US" dirty="0" err="1"/>
              <a:t>Detektor</a:t>
            </a:r>
            <a:r>
              <a:rPr lang="en-US" dirty="0"/>
              <a:t> </a:t>
            </a:r>
            <a:r>
              <a:rPr lang="en-US" dirty="0" err="1"/>
              <a:t>prati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predvi</a:t>
            </a:r>
            <a:r>
              <a:rPr lang="sr-Latn-RS" dirty="0"/>
              <a:t>đ</a:t>
            </a:r>
            <a:r>
              <a:rPr lang="en-US" dirty="0" err="1"/>
              <a:t>enih</a:t>
            </a:r>
            <a:r>
              <a:rPr lang="en-US" dirty="0"/>
              <a:t> </a:t>
            </a:r>
            <a:r>
              <a:rPr lang="en-US" dirty="0" err="1"/>
              <a:t>uglova</a:t>
            </a:r>
            <a:r>
              <a:rPr lang="en-US" dirty="0"/>
              <a:t> u </a:t>
            </a:r>
            <a:r>
              <a:rPr lang="en-US" dirty="0" err="1"/>
              <a:t>kratkom</a:t>
            </a:r>
            <a:r>
              <a:rPr lang="en-US" dirty="0"/>
              <a:t> </a:t>
            </a:r>
            <a:r>
              <a:rPr lang="en-US" dirty="0" err="1"/>
              <a:t>vremenskom</a:t>
            </a:r>
            <a:r>
              <a:rPr lang="en-US" dirty="0"/>
              <a:t> </a:t>
            </a:r>
            <a:r>
              <a:rPr lang="en-US" dirty="0" err="1"/>
              <a:t>prozoru</a:t>
            </a:r>
            <a:r>
              <a:rPr lang="en-US" dirty="0"/>
              <a:t> (LANE_CHANGE_WINDOW = 20 </a:t>
            </a:r>
            <a:r>
              <a:rPr lang="en-US" dirty="0" err="1"/>
              <a:t>frejmova</a:t>
            </a:r>
            <a:r>
              <a:rPr lang="en-US" dirty="0"/>
              <a:t>)</a:t>
            </a:r>
          </a:p>
          <a:p>
            <a:r>
              <a:rPr lang="en-US" dirty="0" err="1"/>
              <a:t>Procena</a:t>
            </a:r>
            <a:r>
              <a:rPr lang="en-US" dirty="0"/>
              <a:t> se </a:t>
            </a:r>
            <a:r>
              <a:rPr lang="en-US" dirty="0" err="1"/>
              <a:t>vr</a:t>
            </a:r>
            <a:r>
              <a:rPr lang="sr-Latn-RS" dirty="0"/>
              <a:t>š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dve</a:t>
            </a:r>
            <a:r>
              <a:rPr lang="en-US" dirty="0"/>
              <a:t> faze: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Zero-crossing + magnitude –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ugao</a:t>
            </a:r>
            <a:r>
              <a:rPr lang="en-US" dirty="0"/>
              <a:t> </a:t>
            </a:r>
            <a:r>
              <a:rPr lang="en-US" dirty="0" err="1"/>
              <a:t>promeni</a:t>
            </a:r>
            <a:r>
              <a:rPr lang="en-US" dirty="0"/>
              <a:t> </a:t>
            </a:r>
            <a:r>
              <a:rPr lang="en-US" dirty="0" err="1"/>
              <a:t>znak</a:t>
            </a:r>
            <a:r>
              <a:rPr lang="en-US" dirty="0"/>
              <a:t> (</a:t>
            </a:r>
            <a:r>
              <a:rPr lang="en-US" dirty="0" err="1"/>
              <a:t>prelazi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nulu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prozora</a:t>
            </a:r>
            <a:r>
              <a:rPr lang="en-US" dirty="0"/>
              <a:t>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apsolutna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ugla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LANE_CHANGE_ANGLE_THRESHOLD(0.15), </a:t>
            </a:r>
            <a:r>
              <a:rPr lang="en-US" dirty="0" err="1"/>
              <a:t>detektuje</a:t>
            </a:r>
            <a:r>
              <a:rPr lang="en-US" dirty="0"/>
              <a:t> se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trake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Ako </a:t>
            </a:r>
            <a:r>
              <a:rPr lang="en-US" dirty="0" err="1"/>
              <a:t>apsolutna</a:t>
            </a:r>
            <a:r>
              <a:rPr lang="en-US" dirty="0"/>
              <a:t>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ugla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uzastopnih</a:t>
            </a:r>
            <a:r>
              <a:rPr lang="en-US" dirty="0"/>
              <a:t> </a:t>
            </a:r>
            <a:r>
              <a:rPr lang="en-US" dirty="0" err="1"/>
              <a:t>frejmova</a:t>
            </a:r>
            <a:r>
              <a:rPr lang="en-US" dirty="0"/>
              <a:t> </a:t>
            </a:r>
            <a:r>
              <a:rPr lang="en-US" dirty="0" err="1"/>
              <a:t>ostane</a:t>
            </a:r>
            <a:r>
              <a:rPr lang="en-US" dirty="0"/>
              <a:t> </a:t>
            </a:r>
            <a:r>
              <a:rPr lang="en-US" dirty="0" err="1"/>
              <a:t>veca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jednaka</a:t>
            </a:r>
            <a:r>
              <a:rPr lang="en-US" dirty="0"/>
              <a:t> LANE_CHANGE_DERIVATIVE_THRESHOLD (0.04)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najmanje</a:t>
            </a:r>
            <a:r>
              <a:rPr lang="en-US" dirty="0"/>
              <a:t> LANE_CHANGE_SUSTAINED_FRAMES(5) </a:t>
            </a:r>
            <a:r>
              <a:rPr lang="en-US" dirty="0" err="1"/>
              <a:t>uzastopnih</a:t>
            </a:r>
            <a:r>
              <a:rPr lang="en-US" dirty="0"/>
              <a:t> </a:t>
            </a:r>
            <a:r>
              <a:rPr lang="en-US" dirty="0" err="1"/>
              <a:t>frejmova</a:t>
            </a:r>
            <a:r>
              <a:rPr lang="en-US" dirty="0"/>
              <a:t>, </a:t>
            </a:r>
            <a:r>
              <a:rPr lang="en-US" dirty="0" err="1"/>
              <a:t>tako</a:t>
            </a:r>
            <a:r>
              <a:rPr lang="sr-Latn-RS" dirty="0"/>
              <a:t>đ</a:t>
            </a:r>
            <a:r>
              <a:rPr lang="en-US" dirty="0"/>
              <a:t>e se </a:t>
            </a:r>
            <a:r>
              <a:rPr lang="en-US" dirty="0" err="1"/>
              <a:t>detektuje</a:t>
            </a:r>
            <a:r>
              <a:rPr lang="en-US" dirty="0"/>
              <a:t>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trake</a:t>
            </a:r>
            <a:endParaRPr lang="en-US" dirty="0"/>
          </a:p>
          <a:p>
            <a:r>
              <a:rPr lang="en-US" dirty="0"/>
              <a:t>Smer se </a:t>
            </a:r>
            <a:r>
              <a:rPr lang="en-US" dirty="0" err="1"/>
              <a:t>odre</a:t>
            </a:r>
            <a:r>
              <a:rPr lang="sr-Latn-RS" dirty="0"/>
              <a:t>đ</a:t>
            </a:r>
            <a:r>
              <a:rPr lang="en-US" dirty="0" err="1"/>
              <a:t>uje</a:t>
            </a:r>
            <a:r>
              <a:rPr lang="en-US" dirty="0"/>
              <a:t> po </a:t>
            </a:r>
            <a:r>
              <a:rPr lang="en-US" dirty="0" err="1"/>
              <a:t>znaku</a:t>
            </a:r>
            <a:r>
              <a:rPr lang="en-US" dirty="0"/>
              <a:t> </a:t>
            </a:r>
            <a:r>
              <a:rPr lang="en-US" dirty="0" err="1"/>
              <a:t>poslednjeg</a:t>
            </a:r>
            <a:r>
              <a:rPr lang="en-US" dirty="0"/>
              <a:t> </a:t>
            </a:r>
            <a:r>
              <a:rPr lang="en-US" dirty="0" err="1"/>
              <a:t>ugla</a:t>
            </a:r>
            <a:endParaRPr lang="en-US" dirty="0"/>
          </a:p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detekcija</a:t>
            </a:r>
            <a:r>
              <a:rPr lang="en-US" dirty="0"/>
              <a:t> interna </a:t>
            </a:r>
            <a:r>
              <a:rPr lang="en-US" dirty="0" err="1"/>
              <a:t>istorija</a:t>
            </a:r>
            <a:r>
              <a:rPr lang="en-US" dirty="0"/>
              <a:t> se </a:t>
            </a:r>
            <a:r>
              <a:rPr lang="en-US" dirty="0" err="1"/>
              <a:t>resetuje</a:t>
            </a:r>
            <a:r>
              <a:rPr lang="en-US" dirty="0"/>
              <a:t> da se ne bi </a:t>
            </a:r>
            <a:r>
              <a:rPr lang="en-US" dirty="0" err="1"/>
              <a:t>duplirao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doga</a:t>
            </a:r>
            <a:r>
              <a:rPr lang="sr-Latn-RS" dirty="0"/>
              <a:t>đ</a:t>
            </a:r>
            <a:r>
              <a:rPr lang="en-US" dirty="0" err="1"/>
              <a:t>aj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293317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7A3ABB9-59C0-1142-8AAC-D96F48C2E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FB10F6-EE53-59BB-AA02-C42A2C08E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6195545" cy="3848117"/>
          </a:xfrm>
        </p:spPr>
        <p:txBody>
          <a:bodyPr anchor="t">
            <a:normAutofit/>
          </a:bodyPr>
          <a:lstStyle/>
          <a:p>
            <a:r>
              <a:rPr lang="en-US" sz="6600" dirty="0" err="1"/>
              <a:t>Performanse</a:t>
            </a:r>
            <a:br>
              <a:rPr lang="en-US" sz="6600" dirty="0"/>
            </a:br>
            <a:endParaRPr lang="sr-Latn-RS" sz="6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E4EBCD-EF3E-CC90-D58F-E99059059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4680" y="4017818"/>
            <a:ext cx="4078471" cy="1828799"/>
          </a:xfrm>
        </p:spPr>
        <p:txBody>
          <a:bodyPr anchor="b">
            <a:normAutofit/>
          </a:bodyPr>
          <a:lstStyle/>
          <a:p>
            <a:endParaRPr lang="sr-Latn-R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EC199B-6D39-40A5-60B2-64079102B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3DE491-0822-E06F-2F96-DF7B05EEE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ED10D71-F754-F9AD-E5A1-D5563707D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4680" y="6209925"/>
            <a:ext cx="4068671" cy="45719"/>
          </a:xfrm>
          <a:custGeom>
            <a:avLst/>
            <a:gdLst>
              <a:gd name="connsiteX0" fmla="*/ 0 w 4068671"/>
              <a:gd name="connsiteY0" fmla="*/ 0 h 45719"/>
              <a:gd name="connsiteX1" fmla="*/ 4068671 w 4068671"/>
              <a:gd name="connsiteY1" fmla="*/ 0 h 45719"/>
              <a:gd name="connsiteX2" fmla="*/ 4068671 w 4068671"/>
              <a:gd name="connsiteY2" fmla="*/ 45719 h 45719"/>
              <a:gd name="connsiteX3" fmla="*/ 0 w 4068671"/>
              <a:gd name="connsiteY3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8671" h="45719">
                <a:moveTo>
                  <a:pt x="0" y="0"/>
                </a:moveTo>
                <a:lnTo>
                  <a:pt x="4068671" y="0"/>
                </a:lnTo>
                <a:lnTo>
                  <a:pt x="4068671" y="45719"/>
                </a:lnTo>
                <a:lnTo>
                  <a:pt x="0" y="457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0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1C9BF27-F1A0-A583-95A6-86757ACAB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5272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24202709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01935165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592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Arhitektura</a:t>
                      </a:r>
                      <a:endParaRPr lang="sr-Latn-R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r-Latn-R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9076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Conv </a:t>
                      </a:r>
                      <a:r>
                        <a:rPr lang="en-US" dirty="0" err="1"/>
                        <a:t>slojevi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(24, 36, 48)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5395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31464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Dense </a:t>
                      </a:r>
                      <a:r>
                        <a:rPr lang="en-US" dirty="0" err="1"/>
                        <a:t>slojevi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50 -&gt; 1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2598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CNN Dropout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3109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LSTM Dropout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9799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Hiperparametri</a:t>
                      </a:r>
                      <a:endParaRPr lang="sr-Latn-R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3982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Learning Rate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1e-3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8653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Batch Size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49971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SEQ_STRIDE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0798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SEQ_LEN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8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ES_PATIENCE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1766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Rezultati</a:t>
                      </a:r>
                      <a:endParaRPr lang="sr-Latn-R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77559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err="1"/>
                        <a:t>Najbolji</a:t>
                      </a:r>
                      <a:r>
                        <a:rPr lang="en-US" dirty="0"/>
                        <a:t> Val Loss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0.13171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172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Val MAE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0.2911 (26°)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476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err="1"/>
                        <a:t>Trajanje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epohe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≈56</a:t>
                      </a:r>
                      <a:r>
                        <a:rPr lang="en-US" dirty="0"/>
                        <a:t>s</a:t>
                      </a:r>
                      <a:endParaRPr lang="sr-Latn-R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18267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err="1"/>
                        <a:t>Epoha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najboljeg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modela</a:t>
                      </a:r>
                      <a:endParaRPr lang="sr-Latn-R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83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304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loss and loss&#10;&#10;AI-generated content may be incorrect.">
            <a:extLst>
              <a:ext uri="{FF2B5EF4-FFF2-40B4-BE49-F238E27FC236}">
                <a16:creationId xmlns:a16="http://schemas.microsoft.com/office/drawing/2014/main" id="{33FCA0BC-6DA5-0EFE-AC52-9B855C5E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" r="189"/>
          <a:stretch>
            <a:fillRect/>
          </a:stretch>
        </p:blipFill>
        <p:spPr>
          <a:xfrm>
            <a:off x="1462" y="1390260"/>
            <a:ext cx="12191735" cy="40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8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3C0B3-9856-4BC8-3176-1A2A1911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en-US" sz="5200" b="1"/>
              <a:t>Testiranje – Vizualizacija predikcija</a:t>
            </a:r>
            <a:endParaRPr lang="sr-Latn-RS" sz="5200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4B493-5257-8E55-67FF-A2A0825A8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" r="-3" b="-3"/>
          <a:stretch>
            <a:fillRect/>
          </a:stretch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61FAE37-68DF-A07F-1DB0-73CF80A31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 fontScale="92500" lnSpcReduction="20000"/>
          </a:bodyPr>
          <a:lstStyle/>
          <a:p>
            <a:r>
              <a:rPr lang="sr-Latn-RS" b="1" dirty="0"/>
              <a:t>Zeleni volan</a:t>
            </a:r>
            <a:r>
              <a:rPr lang="sr-Latn-RS" dirty="0"/>
              <a:t> (+0.5°): Stabilna vožnja pravo (GT: +0.0°, greška &lt; 1°)</a:t>
            </a:r>
          </a:p>
          <a:p>
            <a:r>
              <a:rPr lang="sr-Latn-RS" b="1" dirty="0"/>
              <a:t>Žuti volan</a:t>
            </a:r>
            <a:r>
              <a:rPr lang="sr-Latn-RS" dirty="0"/>
              <a:t> (-25.7°): Skretanje ulevo sa detekcijom promene trake (GT: -22.5°, greška 3°)</a:t>
            </a:r>
          </a:p>
          <a:p>
            <a:r>
              <a:rPr lang="sr-Latn-RS" b="1" dirty="0"/>
              <a:t>Crveni volan</a:t>
            </a:r>
            <a:r>
              <a:rPr lang="sr-Latn-RS" dirty="0"/>
              <a:t> (+43.7°): Oštro skretanje udesno sa detekcijom promene trake (GT: +49.5°, greška 6°)</a:t>
            </a:r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3F598-D6C9-1762-9EEE-62362C965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" r="-3" b="-3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227BB3-CDD9-5E45-B12A-9EA5DF0054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" r="-3" b="-3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7765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</TotalTime>
  <Words>898</Words>
  <Application>Microsoft Office PowerPoint</Application>
  <PresentationFormat>Widescreen</PresentationFormat>
  <Paragraphs>100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GestaltVTI</vt:lpstr>
      <vt:lpstr>Office 2013 - 2022 Theme</vt:lpstr>
      <vt:lpstr>Steering-angle prediction and lane-change detection</vt:lpstr>
      <vt:lpstr>Preduslovi</vt:lpstr>
      <vt:lpstr>Arhitektura modela</vt:lpstr>
      <vt:lpstr>Pretprocesiranje podataka</vt:lpstr>
      <vt:lpstr>Treniranje</vt:lpstr>
      <vt:lpstr>Inferencija i vizualizacija</vt:lpstr>
      <vt:lpstr>Detekcija promene trake</vt:lpstr>
      <vt:lpstr>Performanse </vt:lpstr>
      <vt:lpstr>PowerPoint Presentation</vt:lpstr>
      <vt:lpstr>PowerPoint Presentation</vt:lpstr>
      <vt:lpstr>Testiranje – Vizualizacija predikcija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Dinić</dc:creator>
  <cp:lastModifiedBy>Igor Dinić</cp:lastModifiedBy>
  <cp:revision>36</cp:revision>
  <dcterms:created xsi:type="dcterms:W3CDTF">2026-03-02T17:42:44Z</dcterms:created>
  <dcterms:modified xsi:type="dcterms:W3CDTF">2026-03-05T00:33:34Z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986b477-475a-4439-bc76-391890d8680e_Enabled">
    <vt:lpwstr>true</vt:lpwstr>
  </property>
  <property fmtid="{D5CDD505-2E9C-101B-9397-08002B2CF9AE}" pid="3" name="MSIP_Label_4986b477-475a-4439-bc76-391890d8680e_SetDate">
    <vt:lpwstr>2026-03-03T07:41:55Z</vt:lpwstr>
  </property>
  <property fmtid="{D5CDD505-2E9C-101B-9397-08002B2CF9AE}" pid="4" name="MSIP_Label_4986b477-475a-4439-bc76-391890d8680e_Method">
    <vt:lpwstr>Privileged</vt:lpwstr>
  </property>
  <property fmtid="{D5CDD505-2E9C-101B-9397-08002B2CF9AE}" pid="5" name="MSIP_Label_4986b477-475a-4439-bc76-391890d8680e_Name">
    <vt:lpwstr>TTTech-Auto-Internal</vt:lpwstr>
  </property>
  <property fmtid="{D5CDD505-2E9C-101B-9397-08002B2CF9AE}" pid="6" name="MSIP_Label_4986b477-475a-4439-bc76-391890d8680e_SiteId">
    <vt:lpwstr>e89e5537-41b2-48f2-a5c8-04a8757feb9a</vt:lpwstr>
  </property>
  <property fmtid="{D5CDD505-2E9C-101B-9397-08002B2CF9AE}" pid="7" name="MSIP_Label_4986b477-475a-4439-bc76-391890d8680e_ActionId">
    <vt:lpwstr>182d46cb-16e2-4072-9081-5e4243c62fb3</vt:lpwstr>
  </property>
  <property fmtid="{D5CDD505-2E9C-101B-9397-08002B2CF9AE}" pid="8" name="MSIP_Label_4986b477-475a-4439-bc76-391890d8680e_ContentBits">
    <vt:lpwstr>2</vt:lpwstr>
  </property>
  <property fmtid="{D5CDD505-2E9C-101B-9397-08002B2CF9AE}" pid="9" name="MSIP_Label_4986b477-475a-4439-bc76-391890d8680e_Tag">
    <vt:lpwstr>10, 0, 1, 1</vt:lpwstr>
  </property>
  <property fmtid="{D5CDD505-2E9C-101B-9397-08002B2CF9AE}" pid="10" name="ClassificationContentMarkingFooterLocations">
    <vt:lpwstr>GestaltVTI:9</vt:lpwstr>
  </property>
  <property fmtid="{D5CDD505-2E9C-101B-9397-08002B2CF9AE}" pid="11" name="ClassificationContentMarkingFooterText">
    <vt:lpwstr>Internal</vt:lpwstr>
  </property>
</Properties>
</file>